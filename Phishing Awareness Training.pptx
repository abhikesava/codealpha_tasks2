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4540D-989E-45C7-A0AA-028EA6AA65C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544FC-D551-40D2-A52C-09651D963B6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0192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4540D-989E-45C7-A0AA-028EA6AA65C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544FC-D551-40D2-A52C-09651D963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760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4540D-989E-45C7-A0AA-028EA6AA65C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544FC-D551-40D2-A52C-09651D963B6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361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4540D-989E-45C7-A0AA-028EA6AA65C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544FC-D551-40D2-A52C-09651D963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166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4540D-989E-45C7-A0AA-028EA6AA65C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544FC-D551-40D2-A52C-09651D963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534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4540D-989E-45C7-A0AA-028EA6AA65C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544FC-D551-40D2-A52C-09651D963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53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4540D-989E-45C7-A0AA-028EA6AA65C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544FC-D551-40D2-A52C-09651D963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201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494540D-989E-45C7-A0AA-028EA6AA65C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8544FC-D551-40D2-A52C-09651D963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387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4540D-989E-45C7-A0AA-028EA6AA65C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544FC-D551-40D2-A52C-09651D963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407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4540D-989E-45C7-A0AA-028EA6AA65C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544FC-D551-40D2-A52C-09651D963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263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4540D-989E-45C7-A0AA-028EA6AA65C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544FC-D551-40D2-A52C-09651D963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786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494540D-989E-45C7-A0AA-028EA6AA65C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A8544FC-D551-40D2-A52C-09651D963B6D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4548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D76AC-81FB-E834-2672-C0FCF607E9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Phishing Awareness Training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86F37F-6C17-82FF-3378-A04E61524A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Understanding Phishing Attacks and Cybersecurity Awareness</a:t>
            </a:r>
          </a:p>
          <a:p>
            <a:endParaRPr lang="en-US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73C28BEA-AE36-953C-9637-3CD792F1A94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139896" y="4766187"/>
            <a:ext cx="291445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Prepared By : </a:t>
            </a:r>
            <a:r>
              <a:rPr lang="en-US" altLang="en-US" dirty="0" err="1">
                <a:latin typeface="Arial" panose="020B0604020202020204" pitchFamily="34" charset="0"/>
              </a:rPr>
              <a:t>K.Abhinav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Department /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bca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cyber security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 10/05/2026</a:t>
            </a:r>
          </a:p>
        </p:txBody>
      </p:sp>
    </p:spTree>
    <p:extLst>
      <p:ext uri="{BB962C8B-B14F-4D97-AF65-F5344CB8AC3E}">
        <p14:creationId xmlns:p14="http://schemas.microsoft.com/office/powerpoint/2010/main" val="462377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B548E-EB95-47B8-2A9A-21C5436F7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Phishing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FA786-9BCA-FD96-B569-FAF915D80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What is Phishing?</a:t>
            </a:r>
          </a:p>
          <a:p>
            <a:r>
              <a:rPr lang="en-US" dirty="0"/>
              <a:t>Phishing is a cyberattack used to steal sensitive information. </a:t>
            </a:r>
          </a:p>
          <a:p>
            <a:r>
              <a:rPr lang="en-US" dirty="0"/>
              <a:t>Attackers pretend to be trusted organizations or individuals. </a:t>
            </a:r>
          </a:p>
          <a:p>
            <a:r>
              <a:rPr lang="en-US" dirty="0"/>
              <a:t>Victims are tricked into sharing: </a:t>
            </a:r>
          </a:p>
          <a:p>
            <a:pPr lvl="1"/>
            <a:r>
              <a:rPr lang="en-US" dirty="0"/>
              <a:t>Passwords </a:t>
            </a:r>
          </a:p>
          <a:p>
            <a:pPr lvl="1"/>
            <a:r>
              <a:rPr lang="en-US" dirty="0"/>
              <a:t>Banking details </a:t>
            </a:r>
          </a:p>
          <a:p>
            <a:pPr lvl="1"/>
            <a:r>
              <a:rPr lang="en-US" dirty="0"/>
              <a:t>Personal information </a:t>
            </a:r>
          </a:p>
          <a:p>
            <a:r>
              <a:rPr lang="en-US" dirty="0"/>
              <a:t>Phishing attacks mainly occur through: </a:t>
            </a:r>
          </a:p>
          <a:p>
            <a:pPr lvl="1"/>
            <a:r>
              <a:rPr lang="en-US" dirty="0"/>
              <a:t>Emails </a:t>
            </a:r>
          </a:p>
          <a:p>
            <a:pPr lvl="1"/>
            <a:r>
              <a:rPr lang="en-US" dirty="0"/>
              <a:t>SMS messages </a:t>
            </a:r>
          </a:p>
          <a:p>
            <a:pPr lvl="1"/>
            <a:r>
              <a:rPr lang="en-US" dirty="0"/>
              <a:t>Fake websites </a:t>
            </a:r>
          </a:p>
          <a:p>
            <a:pPr lvl="1"/>
            <a:r>
              <a:rPr lang="en-US" dirty="0"/>
              <a:t>Social media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592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A271E-06DB-09AA-84DA-2B7C15F8E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of Phishing Awareness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0AD4F-64C9-EE2C-C243-99BAA641A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Objectives</a:t>
            </a:r>
          </a:p>
          <a:p>
            <a:r>
              <a:rPr lang="en-US" dirty="0"/>
              <a:t>Understand phishing attacks </a:t>
            </a:r>
          </a:p>
          <a:p>
            <a:r>
              <a:rPr lang="en-US" dirty="0"/>
              <a:t>Learn how attackers trick users </a:t>
            </a:r>
          </a:p>
          <a:p>
            <a:r>
              <a:rPr lang="en-US" dirty="0"/>
              <a:t>Identify phishing emails and fake websites </a:t>
            </a:r>
          </a:p>
          <a:p>
            <a:r>
              <a:rPr lang="en-US" dirty="0"/>
              <a:t>Understand social engineering tactics </a:t>
            </a:r>
          </a:p>
          <a:p>
            <a:r>
              <a:rPr lang="en-US" dirty="0"/>
              <a:t>Learn prevention and protection methods </a:t>
            </a:r>
          </a:p>
          <a:p>
            <a:r>
              <a:rPr lang="en-US" dirty="0"/>
              <a:t>Improve cybersecurity awareness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BD9AB0-1DF2-51CB-313E-91B71CA58F46}"/>
              </a:ext>
            </a:extLst>
          </p:cNvPr>
          <p:cNvSpPr txBox="1"/>
          <p:nvPr/>
        </p:nvSpPr>
        <p:spPr>
          <a:xfrm>
            <a:off x="3046344" y="3244334"/>
            <a:ext cx="6092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b="1" i="0" dirty="0">
                <a:solidFill>
                  <a:srgbClr val="FFFFFF"/>
                </a:solidFill>
                <a:effectLst/>
                <a:latin typeface="-apple-system-body"/>
              </a:rPr>
              <a:t> Objectives of Phishing Awareness</a:t>
            </a:r>
          </a:p>
        </p:txBody>
      </p:sp>
    </p:spTree>
    <p:extLst>
      <p:ext uri="{BB962C8B-B14F-4D97-AF65-F5344CB8AC3E}">
        <p14:creationId xmlns:p14="http://schemas.microsoft.com/office/powerpoint/2010/main" val="3069503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C0DD5-91B4-0D3D-4ACA-E61A9B018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Phishing Attacks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B72ED-10C2-F464-FE2A-9180343BD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Common Types of Phishing</a:t>
            </a:r>
          </a:p>
          <a:p>
            <a:r>
              <a:rPr lang="en-US" b="1" dirty="0"/>
              <a:t>1. Email Phishing</a:t>
            </a:r>
          </a:p>
          <a:p>
            <a:r>
              <a:rPr lang="en-US" dirty="0"/>
              <a:t>Fake emails pretending to be legitimate companies.</a:t>
            </a:r>
          </a:p>
          <a:p>
            <a:r>
              <a:rPr lang="en-US" b="1" dirty="0"/>
              <a:t>2. Spear Phishing</a:t>
            </a:r>
          </a:p>
          <a:p>
            <a:r>
              <a:rPr lang="en-US" dirty="0"/>
              <a:t>Targeted phishing attacks against specific individuals.</a:t>
            </a:r>
          </a:p>
          <a:p>
            <a:r>
              <a:rPr lang="en-US" b="1" dirty="0"/>
              <a:t>3. Smishing</a:t>
            </a:r>
          </a:p>
          <a:p>
            <a:r>
              <a:rPr lang="en-US" dirty="0"/>
              <a:t>Phishing using SMS text messages.</a:t>
            </a:r>
          </a:p>
          <a:p>
            <a:r>
              <a:rPr lang="en-US" b="1" dirty="0"/>
              <a:t>4. Vishing</a:t>
            </a:r>
          </a:p>
          <a:p>
            <a:r>
              <a:rPr lang="en-US" dirty="0"/>
              <a:t>Voice-call phishing scams.</a:t>
            </a:r>
          </a:p>
          <a:p>
            <a:r>
              <a:rPr lang="en-US" b="1" dirty="0"/>
              <a:t>5. Clone Phishing</a:t>
            </a:r>
          </a:p>
          <a:p>
            <a:r>
              <a:rPr lang="en-US" dirty="0"/>
              <a:t>Attackers copy legitimate emails and modify links.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490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473ED-B518-9C62-E1C4-851E9062C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Phishing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9BE1D-5903-64B5-433A-97257705A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Phishing Attack Process</a:t>
            </a:r>
          </a:p>
          <a:p>
            <a:r>
              <a:rPr lang="en-US" dirty="0"/>
              <a:t>Attacker creates fake message or website </a:t>
            </a:r>
          </a:p>
          <a:p>
            <a:r>
              <a:rPr lang="en-US" dirty="0"/>
              <a:t>Victim receives email or SMS </a:t>
            </a:r>
          </a:p>
          <a:p>
            <a:r>
              <a:rPr lang="en-US" dirty="0"/>
              <a:t>Victim clicks malicious link </a:t>
            </a:r>
          </a:p>
          <a:p>
            <a:r>
              <a:rPr lang="en-US" dirty="0"/>
              <a:t>Fake website asks for login credentials </a:t>
            </a:r>
          </a:p>
          <a:p>
            <a:r>
              <a:rPr lang="en-US" dirty="0"/>
              <a:t>Information is stolen by attackers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03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9E265-F0C2-E7AD-CA1E-9E851D487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Characteristics of Phishing Emails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B83D2-5FA0-452B-2141-6981DAFF7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How to Recognize Phishing Emails</a:t>
            </a:r>
          </a:p>
          <a:p>
            <a:r>
              <a:rPr lang="en-US" dirty="0"/>
              <a:t>Suspicious sender email address </a:t>
            </a:r>
          </a:p>
          <a:p>
            <a:r>
              <a:rPr lang="en-US" dirty="0"/>
              <a:t>Grammar and spelling mistakes </a:t>
            </a:r>
          </a:p>
          <a:p>
            <a:r>
              <a:rPr lang="en-US" dirty="0"/>
              <a:t>Urgent or threatening language </a:t>
            </a:r>
          </a:p>
          <a:p>
            <a:r>
              <a:rPr lang="en-US" dirty="0"/>
              <a:t>Unexpected attachments </a:t>
            </a:r>
          </a:p>
          <a:p>
            <a:r>
              <a:rPr lang="en-US" dirty="0"/>
              <a:t>Unknown links </a:t>
            </a:r>
          </a:p>
          <a:p>
            <a:r>
              <a:rPr lang="en-US" dirty="0"/>
              <a:t>Fake company logos </a:t>
            </a:r>
          </a:p>
          <a:p>
            <a:r>
              <a:rPr lang="en-US" dirty="0"/>
              <a:t>Requests for confidential information </a:t>
            </a:r>
          </a:p>
          <a:p>
            <a:r>
              <a:rPr lang="en-US" b="1" dirty="0"/>
              <a:t>Example:</a:t>
            </a:r>
          </a:p>
          <a:p>
            <a:r>
              <a:rPr lang="en-US" dirty="0"/>
              <a:t>“Your account will be suspended immediately!”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015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7F60A-37B7-E76F-DFFA-5AAF75812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Recognizing Fake Websites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35476-11FA-A5B9-4592-DB3A00A98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Identifying Fake Websites</a:t>
            </a:r>
          </a:p>
          <a:p>
            <a:r>
              <a:rPr lang="en-US" dirty="0"/>
              <a:t>Check if URL starts with HTTPS </a:t>
            </a:r>
          </a:p>
          <a:p>
            <a:r>
              <a:rPr lang="en-US" dirty="0"/>
              <a:t>Look for spelling mistakes in domain names </a:t>
            </a:r>
          </a:p>
          <a:p>
            <a:r>
              <a:rPr lang="en-US" dirty="0"/>
              <a:t>Avoid clicking shortened links </a:t>
            </a:r>
          </a:p>
          <a:p>
            <a:r>
              <a:rPr lang="en-US" dirty="0"/>
              <a:t>Verify website certificates </a:t>
            </a:r>
          </a:p>
          <a:p>
            <a:r>
              <a:rPr lang="en-US" dirty="0"/>
              <a:t>Watch for poor design and unusual popups </a:t>
            </a:r>
          </a:p>
          <a:p>
            <a:r>
              <a:rPr lang="en-US" b="1" dirty="0"/>
              <a:t>Example:</a:t>
            </a:r>
          </a:p>
          <a:p>
            <a:r>
              <a:rPr lang="en-US" dirty="0"/>
              <a:t>Real: amazon.com</a:t>
            </a:r>
            <a:br>
              <a:rPr lang="en-US" dirty="0"/>
            </a:br>
            <a:r>
              <a:rPr lang="en-US" dirty="0"/>
              <a:t>Fake: amaz0n-login.com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396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06C0B-A947-74CC-0ADA-CA53D0342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Engineering Tactics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D080B-0163-B901-776A-6DE5054C6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Social Engineering Techniques</a:t>
            </a:r>
          </a:p>
          <a:p>
            <a:r>
              <a:rPr lang="en-US" dirty="0"/>
              <a:t>Attackers manipulate human emotions such as:</a:t>
            </a:r>
          </a:p>
          <a:p>
            <a:r>
              <a:rPr lang="en-US" dirty="0"/>
              <a:t>Fear </a:t>
            </a:r>
          </a:p>
          <a:p>
            <a:r>
              <a:rPr lang="en-US" dirty="0"/>
              <a:t>Curiosity </a:t>
            </a:r>
          </a:p>
          <a:p>
            <a:r>
              <a:rPr lang="en-US" dirty="0"/>
              <a:t>Urgency </a:t>
            </a:r>
          </a:p>
          <a:p>
            <a:r>
              <a:rPr lang="en-US" dirty="0"/>
              <a:t>Trust </a:t>
            </a:r>
          </a:p>
          <a:p>
            <a:r>
              <a:rPr lang="en-US" b="1" dirty="0"/>
              <a:t>Common Tricks</a:t>
            </a:r>
          </a:p>
          <a:p>
            <a:r>
              <a:rPr lang="en-US" dirty="0"/>
              <a:t>Fake lottery winnings </a:t>
            </a:r>
          </a:p>
          <a:p>
            <a:r>
              <a:rPr lang="en-US" dirty="0"/>
              <a:t>Bank account suspension warnings </a:t>
            </a:r>
          </a:p>
          <a:p>
            <a:r>
              <a:rPr lang="en-US" dirty="0"/>
              <a:t>Fake technical support calls </a:t>
            </a:r>
          </a:p>
          <a:p>
            <a:r>
              <a:rPr lang="en-US" dirty="0"/>
              <a:t>CEO fraud emails </a:t>
            </a:r>
          </a:p>
          <a:p>
            <a:r>
              <a:rPr lang="en-US" dirty="0"/>
              <a:t>Social media impersonation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946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750D6-FF2B-1AFA-3F6E-FD9DFE189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Phishing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8FEBF-4104-9E98-2322-BE6859756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Example 1: Fake Banking Email</a:t>
            </a:r>
          </a:p>
          <a:p>
            <a:r>
              <a:rPr lang="en-US" dirty="0"/>
              <a:t>Claims suspicious activity detected </a:t>
            </a:r>
          </a:p>
          <a:p>
            <a:r>
              <a:rPr lang="en-US" dirty="0"/>
              <a:t>Asks user to “verify account” </a:t>
            </a:r>
          </a:p>
          <a:p>
            <a:r>
              <a:rPr lang="en-US" dirty="0"/>
              <a:t>Redirects to fake login page </a:t>
            </a:r>
          </a:p>
          <a:p>
            <a:r>
              <a:rPr lang="en-US" b="1" dirty="0"/>
              <a:t>Example 2: COVID-19 Scams</a:t>
            </a:r>
          </a:p>
          <a:p>
            <a:r>
              <a:rPr lang="en-US" dirty="0"/>
              <a:t>Fake vaccine registration websites </a:t>
            </a:r>
          </a:p>
          <a:p>
            <a:r>
              <a:rPr lang="en-US" dirty="0"/>
              <a:t>Fraud donation campaigns </a:t>
            </a:r>
          </a:p>
          <a:p>
            <a:r>
              <a:rPr lang="en-US" b="1" dirty="0"/>
              <a:t>Example 3: Password Reset Scam</a:t>
            </a:r>
          </a:p>
          <a:p>
            <a:r>
              <a:rPr lang="en-US" dirty="0"/>
              <a:t>Fake password reset requests </a:t>
            </a:r>
          </a:p>
          <a:p>
            <a:r>
              <a:rPr lang="en-US" dirty="0"/>
              <a:t>Malicious login links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574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0F802-62F1-BEE7-F656-B361BCCCA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 to Avoid Phishing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FE256-BEE7-F51C-5F6B-6F7A49FE4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Protection Tips</a:t>
            </a:r>
          </a:p>
          <a:p>
            <a:r>
              <a:rPr lang="en-US" dirty="0"/>
              <a:t>Never click suspicious links </a:t>
            </a:r>
          </a:p>
          <a:p>
            <a:r>
              <a:rPr lang="en-US" dirty="0"/>
              <a:t>Verify sender identity </a:t>
            </a:r>
          </a:p>
          <a:p>
            <a:r>
              <a:rPr lang="en-US" dirty="0"/>
              <a:t>Use strong passwords </a:t>
            </a:r>
          </a:p>
          <a:p>
            <a:r>
              <a:rPr lang="en-US" dirty="0"/>
              <a:t>Enable Multi-Factor Authentication (MFA) </a:t>
            </a:r>
          </a:p>
          <a:p>
            <a:r>
              <a:rPr lang="en-US" dirty="0"/>
              <a:t>Keep software updated </a:t>
            </a:r>
          </a:p>
          <a:p>
            <a:r>
              <a:rPr lang="en-US" dirty="0"/>
              <a:t>Use antivirus protection </a:t>
            </a:r>
          </a:p>
          <a:p>
            <a:r>
              <a:rPr lang="en-US" dirty="0"/>
              <a:t>Report suspicious emails immediately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174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F9C38-6A11-4C1E-5FFB-B54D7EBB9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 Browsing Habits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6FE95-4BA7-6411-C24C-E7953F1A1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Secure Internet Usage</a:t>
            </a:r>
          </a:p>
          <a:p>
            <a:r>
              <a:rPr lang="en-US" dirty="0"/>
              <a:t>Use trusted websites only </a:t>
            </a:r>
          </a:p>
          <a:p>
            <a:r>
              <a:rPr lang="en-US" dirty="0"/>
              <a:t>Avoid public Wi-Fi for sensitive transactions </a:t>
            </a:r>
          </a:p>
          <a:p>
            <a:r>
              <a:rPr lang="en-US" dirty="0"/>
              <a:t>Check website URLs carefully </a:t>
            </a:r>
          </a:p>
          <a:p>
            <a:r>
              <a:rPr lang="en-US" dirty="0"/>
              <a:t>Download files from official sources only </a:t>
            </a:r>
          </a:p>
          <a:p>
            <a:r>
              <a:rPr lang="en-US" dirty="0"/>
              <a:t>Avoid sharing personal information online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4342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68196-8990-DB25-7118-B252210B0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3EB32-DA2F-B643-12DE-03DDF93CB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  <a:p>
            <a:r>
              <a:rPr lang="en-US" dirty="0"/>
              <a:t>Phishing attacks are increasing rapidly. </a:t>
            </a:r>
          </a:p>
          <a:p>
            <a:r>
              <a:rPr lang="en-US" dirty="0"/>
              <a:t>Awareness is the best defense against cyberattacks. </a:t>
            </a:r>
          </a:p>
          <a:p>
            <a:r>
              <a:rPr lang="en-US" dirty="0"/>
              <a:t>Always verify emails, links, and websites before trusting them. </a:t>
            </a:r>
          </a:p>
          <a:p>
            <a:r>
              <a:rPr lang="en-US" dirty="0"/>
              <a:t>Good cybersecurity habits protect personal and organizational data. </a:t>
            </a:r>
          </a:p>
          <a:p>
            <a:r>
              <a:rPr lang="en-US" b="1" dirty="0"/>
              <a:t>“Think Before You Click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633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9A5C42-8BCB-03D7-E426-2FE9BCB483F2}"/>
              </a:ext>
            </a:extLst>
          </p:cNvPr>
          <p:cNvSpPr txBox="1"/>
          <p:nvPr/>
        </p:nvSpPr>
        <p:spPr>
          <a:xfrm>
            <a:off x="2074607" y="2505670"/>
            <a:ext cx="71283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33247569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481</Words>
  <Application>Microsoft Office PowerPoint</Application>
  <PresentationFormat>Widescreen</PresentationFormat>
  <Paragraphs>115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-apple-system-body</vt:lpstr>
      <vt:lpstr>Arial</vt:lpstr>
      <vt:lpstr>Calibri</vt:lpstr>
      <vt:lpstr>Calibri Light</vt:lpstr>
      <vt:lpstr>Retrospect</vt:lpstr>
      <vt:lpstr>Phishing Awareness Training</vt:lpstr>
      <vt:lpstr>Introduction to Phishing</vt:lpstr>
      <vt:lpstr>Objectives of Phishing Awareness</vt:lpstr>
      <vt:lpstr>Types of Phishing Attacks</vt:lpstr>
      <vt:lpstr>How Phishing Works</vt:lpstr>
      <vt:lpstr>Characteristics of Phishing Emails</vt:lpstr>
      <vt:lpstr>Recognizing Fake Websites</vt:lpstr>
      <vt:lpstr>Social Engineering Tactics</vt:lpstr>
      <vt:lpstr>Real-World Phishing Examples</vt:lpstr>
      <vt:lpstr>Best Practices to Avoid Phishing</vt:lpstr>
      <vt:lpstr>Safe Browsing Habits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Kesavapatnam Bhaskar</dc:creator>
  <cp:lastModifiedBy>Kesavapatnam Bhaskar</cp:lastModifiedBy>
  <cp:revision>1</cp:revision>
  <dcterms:created xsi:type="dcterms:W3CDTF">2026-05-10T10:51:30Z</dcterms:created>
  <dcterms:modified xsi:type="dcterms:W3CDTF">2026-05-10T10:51:51Z</dcterms:modified>
</cp:coreProperties>
</file>